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68680" y="0"/>
            <a:ext cx="0" cy="6858000"/>
          </a:xfrm>
          <a:prstGeom prst="line">
            <a:avLst/>
          </a:prstGeom>
          <a:ln w="63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737360" y="0"/>
            <a:ext cx="0" cy="6858000"/>
          </a:xfrm>
          <a:prstGeom prst="line">
            <a:avLst/>
          </a:prstGeom>
          <a:ln w="63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606039" y="0"/>
            <a:ext cx="0" cy="6858000"/>
          </a:xfrm>
          <a:prstGeom prst="line">
            <a:avLst/>
          </a:prstGeom>
          <a:ln w="63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474720" y="0"/>
            <a:ext cx="0" cy="6858000"/>
          </a:xfrm>
          <a:prstGeom prst="line">
            <a:avLst/>
          </a:prstGeom>
          <a:ln w="63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43400" y="0"/>
            <a:ext cx="0" cy="6858000"/>
          </a:xfrm>
          <a:prstGeom prst="line">
            <a:avLst/>
          </a:prstGeom>
          <a:ln w="63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212079" y="0"/>
            <a:ext cx="0" cy="6858000"/>
          </a:xfrm>
          <a:prstGeom prst="line">
            <a:avLst/>
          </a:prstGeom>
          <a:ln w="63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0759" y="0"/>
            <a:ext cx="0" cy="6858000"/>
          </a:xfrm>
          <a:prstGeom prst="line">
            <a:avLst/>
          </a:prstGeom>
          <a:ln w="63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63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18119" y="0"/>
            <a:ext cx="0" cy="6858000"/>
          </a:xfrm>
          <a:prstGeom prst="line">
            <a:avLst/>
          </a:prstGeom>
          <a:ln w="63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63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24159" y="0"/>
            <a:ext cx="0" cy="6858000"/>
          </a:xfrm>
          <a:prstGeom prst="line">
            <a:avLst/>
          </a:prstGeom>
          <a:ln w="63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292840" y="0"/>
            <a:ext cx="0" cy="6858000"/>
          </a:xfrm>
          <a:prstGeom prst="line">
            <a:avLst/>
          </a:prstGeom>
          <a:ln w="63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5592" y="201168"/>
            <a:ext cx="1234440" cy="292608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21031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Courier New"/>
              </a:rPr>
              <a:t>ISO 16750-2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91472" y="201168"/>
            <a:ext cx="1234440" cy="292608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1472" y="21031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8BDF8"/>
                </a:solidFill>
                <a:latin typeface="Courier New"/>
              </a:rPr>
              <a:t>ISO 16750-4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17352" y="201168"/>
            <a:ext cx="1234440" cy="292608"/>
          </a:xfrm>
          <a:prstGeom prst="rect">
            <a:avLst/>
          </a:prstGeom>
          <a:solidFill>
            <a:srgbClr val="1E293B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17352" y="21031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2C55E"/>
                </a:solidFill>
                <a:latin typeface="Courier New"/>
              </a:rPr>
              <a:t>ISO 16750-5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16459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9E0B"/>
                </a:solidFill>
                <a:latin typeface="Courier New"/>
              </a:rPr>
              <a:t>TestForge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AI-Powered Automotive Electronics Test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3566160"/>
            <a:ext cx="27432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35844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C55E"/>
                </a:solidFill>
                <a:latin typeface="Calibri"/>
              </a:rPr>
              <a:t>✅  58 backend tests passed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3566160"/>
            <a:ext cx="27432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35844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C55E"/>
                </a:solidFill>
                <a:latin typeface="Calibri"/>
              </a:rPr>
              <a:t>✅  10 AI backend tests passed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3566160"/>
            <a:ext cx="27432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35844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C55E"/>
                </a:solidFill>
                <a:latin typeface="Calibri"/>
              </a:rPr>
              <a:t>✅  Production build 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852160"/>
            <a:ext cx="12188952" cy="1828"/>
          </a:xfrm>
          <a:prstGeom prst="rect">
            <a:avLst/>
          </a:prstGeom>
          <a:solidFill>
            <a:srgbClr val="94A3B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[İsim Soyisim]  ·  EE 471 — Modern Software Development Practices &amp; Technologies  ·  Izmir Institute of Technology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352044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3520440" cy="54864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828800"/>
            <a:ext cx="3191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Manual Test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240280"/>
            <a:ext cx="319125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ISO 16750 test scope determined manually for each DUT.
Missed tests, inconsistent coverage across campaigns.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7368" y="1051560"/>
            <a:ext cx="352044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87368" y="1051560"/>
            <a:ext cx="3520440" cy="54864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8" y="123444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828800"/>
            <a:ext cx="3191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Repetitive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240280"/>
            <a:ext cx="319125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Pre-test checklists and formal reports rebuilt from scratch every time,
following the same structure.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08976" y="1051560"/>
            <a:ext cx="352044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08976" y="1051560"/>
            <a:ext cx="3520440" cy="54864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08976" y="123444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1828800"/>
            <a:ext cx="3191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No Unified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40280"/>
            <a:ext cx="319125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Results, equipment calibration records, and reports scattered
across spreadsheets and local folders.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60520"/>
            <a:ext cx="11457432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2452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  <a:latin typeface="Courier New"/>
              </a:rPr>
              <a:t>Automotive ECU validation → 30+ individual tests per DUT  ·  electrical (ISO 16750-2)  ·  climatic (ISO 16750-4)  ·  chemical (ISO 16750-5)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1051560"/>
            <a:ext cx="3319272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075688"/>
            <a:ext cx="3319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Courier New"/>
              </a:rPr>
              <a:t>[ DUT REGISTRATION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660904"/>
            <a:ext cx="3319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Dolu bir DUT kaydı
(mounting location, voltage, temp range)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Three decoupled services — orchestrated by Docker Compose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108960" cy="384048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108960" cy="347472"/>
          </a:xfrm>
          <a:prstGeom prst="rect">
            <a:avLst/>
          </a:prstGeom>
          <a:solidFill>
            <a:srgbClr val="38BDF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33856"/>
            <a:ext cx="2889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554480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React 18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01368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048256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Chart.js · React Router v6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295144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──────────────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542032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/dut-registration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788920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/test-plan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035808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/checklist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282696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/result-report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529584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/dashboard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3776472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/equipment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  <a:latin typeface="Courier New"/>
              </a:rPr>
              <a:t>REST
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1097280"/>
            <a:ext cx="3108960" cy="384048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69080" y="1097280"/>
            <a:ext cx="3108960" cy="347472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78808" y="1133856"/>
            <a:ext cx="2889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Backend API  :5000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3672" y="1554480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Flask 3 · Python 3.11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3672" y="1801368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SQLite · 13 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33672" y="2048256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Thread-safe DB wrapper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3672" y="2295144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──────────────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3672" y="2542032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/duts  /tests  /results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3672" y="2788920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/checklists  /reports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3672" y="3035808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/equipment  /dashboard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3282696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/catalog  /campaigns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3672" y="3529584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/attachments  /export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33672" y="3776472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PDF · DOCX · QR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  <a:latin typeface="Courier New"/>
              </a:rPr>
              <a:t>HTTP
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1097280"/>
            <a:ext cx="3108960" cy="38404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3840" y="1097280"/>
            <a:ext cx="3108960" cy="34747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1133856"/>
            <a:ext cx="2889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AI Backend  :5001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2" y="1554480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Flask microservice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2" y="1801368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Ollama · Qwen2.5-14B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2" y="2048256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Local — offline-safe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432" y="2295144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──────────────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8432" y="2542032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POST /generate-plan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28432" y="2788920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POST /generate-checklist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28432" y="3035808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POST /generate-report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2" y="3282696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ai_decision_logs table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8432" y="3529584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Structured JSON prompts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8432" y="3776472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Fallback engine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120640"/>
            <a:ext cx="11640312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16636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  <a:latin typeface="Courier New"/>
              </a:rPr>
              <a:t>Docker Compose  ·  docker compose up  →  Frontend :5173  |  API :5000  |  AI :5001  |  SQLite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69080" y="5715000"/>
            <a:ext cx="3108960" cy="1024128"/>
          </a:xfrm>
          <a:prstGeom prst="rect">
            <a:avLst/>
          </a:prstGeom>
          <a:solidFill>
            <a:srgbClr val="0B1A2E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60520" y="57515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urier New"/>
              </a:rPr>
              <a:t>13 SQLite Tables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60520" y="601675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ourier New"/>
              </a:rPr>
              <a:t>duts · tests · results · iso_test_catalog
equipment · campaigns · test_plan_items
attachments · report_templates · ai_decision_logs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AI Engine &amp; Evaluation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How test plans are generated and results are evaluated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AI Test Plan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02920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721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8BDF8"/>
                </a:solidFill>
                <a:latin typeface="Calibri"/>
              </a:rPr>
              <a:t>  1.  DUT 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ourier New"/>
              </a:rPr>
              <a:t>     name · mounting_location · nominal_voltage
power_class · temp_min / temp_max · ip_class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2128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  <a:latin typeface="Calibr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95728"/>
            <a:ext cx="502920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505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  <a:latin typeface="Calibri"/>
              </a:rPr>
              <a:t>  2.  Catalog lookup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ourier New"/>
              </a:rPr>
              <a:t>     iso_test_catalog → 8 seeded tests
applicability_rules_json per DUT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1912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74136"/>
            <a:ext cx="502920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  3.  LLM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758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ourier New"/>
              </a:rPr>
              <a:t>     Structured JSON prompt → Qwen2.5-14B via Ollama
returns: test_name · clause_no · severity · 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169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52544"/>
            <a:ext cx="502920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074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94A3B8"/>
                </a:solidFill>
                <a:latin typeface="Calibri"/>
              </a:rPr>
              <a:t>  4.  Log &amp;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5429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ourier New"/>
              </a:rPr>
              <a:t>     ai_decision_logs: model_name · prompt · response
source (llm / fallback) · status · error_message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04104"/>
            <a:ext cx="50292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42239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F4444"/>
                </a:solidFill>
                <a:latin typeface="Calibri"/>
              </a:rPr>
              <a:t>⚡  Ollama unreachable → fallback engine activates — full app functionality retained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960120"/>
            <a:ext cx="18288" cy="5303520"/>
          </a:xfrm>
          <a:prstGeom prst="rect">
            <a:avLst/>
          </a:prstGeom>
          <a:solidFill>
            <a:srgbClr val="1E29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10058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Evaluation Rules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132588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Per-test JSON evaluation_schema_json — automatic PASS / FAIL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691640"/>
            <a:ext cx="58521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174650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ourier New"/>
              </a:rPr>
              <a:t>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174650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field value ≥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200253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ourier New"/>
              </a:rPr>
              <a:t>e.g.  USmin ≥ 8.0 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2331720"/>
            <a:ext cx="58521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238658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ourier New"/>
              </a:rPr>
              <a:t>max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38658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field value ≤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64261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ourier New"/>
              </a:rPr>
              <a:t>e.g.  USmax ≤ 18.0 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2971800"/>
            <a:ext cx="58521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02666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ourier New"/>
              </a:rPr>
              <a:t>range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02666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min ≤ value ≤ max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328269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ourier New"/>
              </a:rPr>
              <a:t>e.g.  Test Voltage 11–14.5 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611880"/>
            <a:ext cx="58521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366674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ourier New"/>
              </a:rPr>
              <a:t>required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366674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field must not be empty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3922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ourier New"/>
              </a:rPr>
              <a:t>e.g.  Chemical Agent required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4251960"/>
            <a:ext cx="58521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30682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ourier New"/>
              </a:rPr>
              <a:t>not_equals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30682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value must not match string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456285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ourier New"/>
              </a:rPr>
              <a:t>e.g.  visual_inspection ≠ 'crack'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4965192"/>
            <a:ext cx="5852160" cy="329184"/>
          </a:xfrm>
          <a:prstGeom prst="rect">
            <a:avLst/>
          </a:prstGeom>
          <a:solidFill>
            <a:srgbClr val="0B1A2E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9834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C55E"/>
                </a:solidFill>
                <a:latin typeface="Courier New"/>
              </a:rPr>
              <a:t>Failure → field-level message stored in evaluation_details_json · score in evaluation_score column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AI Test Plan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▸  DUT parameters → LLM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447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     Mounting location, voltage class, temp range fed into Qwen2.5-14B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647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▸  ISO 16750 catalog as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665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     8 seeded tests with applicability_rules_json filter candidate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865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▸  Structured JSON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8833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     test_name · iso_part · clause_no · category · severity · reason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083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▸  Every decision logged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101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     ai_decision_logs stores prompt, response, model name and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301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▸  Fallback-safe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31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     Catalog defaults activate when Ollama is unreachable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051560"/>
            <a:ext cx="6062472" cy="47548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715768"/>
            <a:ext cx="6062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Courier New"/>
              </a:rPr>
              <a:t>[ TEST PLAN PAGE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666744"/>
            <a:ext cx="6062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AI tarafından üretilmiş test listesi
(ISO madde no, kategori, severity kolonları görünür)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 Entry &amp; Automatic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▸  Dynamic form from catalog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447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     result_input_schema_json drives field type, label, unit, requirement hint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647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▸  Rules engine evaluates on save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665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     evaluation_schema_json → field-by-field min/max/range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865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▸  PASS / FAIL per field + overall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8833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     evaluation_score + evaluation_details_json stored in results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083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▸  Deviation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101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     has_deviation → description, root_cause, corrective_action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301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▸  One-click report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31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     AI writes formal English report → export as DOCX + PDF with QR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051560"/>
            <a:ext cx="6062472" cy="47548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715768"/>
            <a:ext cx="6062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Courier New"/>
              </a:rPr>
              <a:t>[ RESULT &amp; REPORT PAGE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666744"/>
            <a:ext cx="6062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Ölçüm girişleri + otomatik PASS/FAIL
kırmızı/yeşil değerlendirme sonuçları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</a:rP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822960"/>
            <a:ext cx="9445752" cy="475488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59E0B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ourier New"/>
              </a:rPr>
              <a:t>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~2 min  ·  DUT Registration → AI Test Plan → Checklist → Result + PASS/FAIL → PDF Report →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760720"/>
            <a:ext cx="2011680" cy="347472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7881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9E0B"/>
                </a:solidFill>
                <a:latin typeface="Courier New"/>
              </a:rPr>
              <a:t>DUT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5788152"/>
            <a:ext cx="9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5760720"/>
            <a:ext cx="2011680" cy="347472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57881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9E0B"/>
                </a:solidFill>
                <a:latin typeface="Courier New"/>
              </a:rPr>
              <a:t>AI Test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5788152"/>
            <a:ext cx="9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9744" y="5760720"/>
            <a:ext cx="2011680" cy="347472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57881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9E0B"/>
                </a:solidFill>
                <a:latin typeface="Courier New"/>
              </a:rPr>
              <a:t>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1424" y="5788152"/>
            <a:ext cx="9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94576" y="5760720"/>
            <a:ext cx="2011680" cy="347472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57881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9E0B"/>
                </a:solidFill>
                <a:latin typeface="Courier New"/>
              </a:rPr>
              <a:t>Result + 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6256" y="5788152"/>
            <a:ext cx="9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9408" y="5760720"/>
            <a:ext cx="2011680" cy="347472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9408" y="57881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9E0B"/>
                </a:solidFill>
                <a:latin typeface="Courier New"/>
              </a:rPr>
              <a:t>Report +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CI/CD Pipeline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GitHub Actions — 4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64592" cy="164592"/>
          </a:xfrm>
          <a:prstGeom prst="rect">
            <a:avLst/>
          </a:prstGeom>
          <a:solidFill>
            <a:srgbClr val="94A3B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ourier New"/>
              </a:rPr>
              <a:t>git push  →  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164592" cy="164592"/>
          </a:xfrm>
          <a:prstGeom prst="rect">
            <a:avLst/>
          </a:prstGeom>
          <a:solidFill>
            <a:srgbClr val="38BDF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8BDF8"/>
                </a:solidFill>
                <a:latin typeface="Courier New"/>
              </a:rPr>
              <a:t>flake8 lint  (backend + ai_backend)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87168"/>
            <a:ext cx="164592" cy="16459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C55E"/>
                </a:solidFill>
                <a:latin typeface="Courier New"/>
              </a:rPr>
              <a:t>pytest  ·  backend: 58 passed  ·  ai_backend: 10 passed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7004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62656"/>
            <a:ext cx="164592" cy="164592"/>
          </a:xfrm>
          <a:prstGeom prst="rect">
            <a:avLst/>
          </a:prstGeom>
          <a:solidFill>
            <a:srgbClr val="38BDF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8950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8BDF8"/>
                </a:solidFill>
                <a:latin typeface="Courier New"/>
              </a:rPr>
              <a:t>npm lint + test + production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4553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438144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6499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Courier New"/>
              </a:rPr>
              <a:t>Semantic version bump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04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ourier New"/>
              </a:rPr>
              <a:t>     feat: → minor  ·  fix: → patch  ·  BREAKING: → major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1051560"/>
            <a:ext cx="28346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1088136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Courier New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125272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SQLite tables in schema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1965960"/>
            <a:ext cx="28346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2002536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Courier New"/>
              </a:rPr>
              <a:t>30+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16712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ISO 16750 tests auto-mapped per DUT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880360"/>
            <a:ext cx="28346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2916936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Courier New"/>
              </a:rPr>
              <a:t>~80%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08152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Less time on report &amp; checklist writing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1051560"/>
            <a:ext cx="3044952" cy="25603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1947672"/>
            <a:ext cx="3044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Courier New"/>
              </a:rPr>
              <a:t>[ GITHUB ACTIONS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459736"/>
            <a:ext cx="3044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4 job — yeşil pipeline
(backend · ai · frontend · version)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806440"/>
            <a:ext cx="11457432" cy="566928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870448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TestForge: DUT registration → formal test report  ·  zero manual document writing  ·  zero cloud dependency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